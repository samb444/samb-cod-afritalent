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42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8770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d'ouverture — présenter le projet AfriTalent et les objectifs globaux.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la logique de séparation : HTML pour structure, CSS pour style, JS pour comportement. main.js consolide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Mentionner que chaque page partage le même header/footer Bootstrap et le même main.js.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le principe de DOMContentLoaded : tout le code JS est encapsulé dans un seul listener pour éviter les conflits entre commits.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Ouvrir Chrome. Démontrer : filtrage freelances, dark mode, formulaire contact, responsive mobile. Mentionner les 8 commits.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Remercier l'audience. Inviter les questions. Mentionner la roadmap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amb444.github.io/samb-cod-AfriTalent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D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6626"/>
            <a:ext cx="3200400" cy="51435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365760"/>
            <a:ext cx="2560320" cy="2560320"/>
          </a:xfrm>
          <a:prstGeom prst="ellipse">
            <a:avLst/>
          </a:prstGeom>
          <a:solidFill>
            <a:srgbClr val="F5A623">
              <a:alpha val="70000"/>
            </a:srgbClr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35040" y="777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Afri</a:t>
            </a:r>
            <a:r>
              <a:rPr lang="en-US" sz="3200" b="1" dirty="0">
                <a:solidFill>
                  <a:srgbClr val="F5A623"/>
                </a:solidFill>
              </a:rPr>
              <a:t>Talent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03504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A7F3D0"/>
                </a:solidFill>
              </a:rPr>
              <a:t>Connecter les talents africains au monde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</a:rPr>
              <a:t>AfriTalent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A623"/>
                </a:solidFill>
              </a:rPr>
              <a:t>Plateforme Freelance Africaine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2468880" cy="594360"/>
          </a:xfrm>
          <a:prstGeom prst="roundRect">
            <a:avLst>
              <a:gd name="adj" fmla="val 12308"/>
            </a:avLst>
          </a:prstGeom>
          <a:solidFill>
            <a:srgbClr val="1A3A2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8803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</a:rPr>
              <a:t>Projet : 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80160" y="28803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AfriTalent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2834640"/>
            <a:ext cx="2468880" cy="594360"/>
          </a:xfrm>
          <a:prstGeom prst="roundRect">
            <a:avLst>
              <a:gd name="adj" fmla="val 12308"/>
            </a:avLst>
          </a:prstGeom>
          <a:solidFill>
            <a:srgbClr val="1A3A2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12" name="Text 10"/>
          <p:cNvSpPr/>
          <p:nvPr/>
        </p:nvSpPr>
        <p:spPr>
          <a:xfrm>
            <a:off x="3337560" y="28803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</a:rPr>
              <a:t>Auteur : 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FFFFFF"/>
                </a:solidFill>
              </a:rPr>
              <a:t>Codé</a:t>
            </a:r>
            <a:r>
              <a:rPr lang="en-US" sz="1000" dirty="0">
                <a:solidFill>
                  <a:srgbClr val="FFFFFF"/>
                </a:solidFill>
              </a:rPr>
              <a:t> Samb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2468880" cy="594360"/>
          </a:xfrm>
          <a:prstGeom prst="roundRect">
            <a:avLst>
              <a:gd name="adj" fmla="val 12308"/>
            </a:avLst>
          </a:prstGeom>
          <a:solidFill>
            <a:srgbClr val="1A3A2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4360" y="36118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</a:rPr>
              <a:t>Classe : 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80160" y="36118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L 1 ISI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0" y="3566160"/>
            <a:ext cx="2468880" cy="594360"/>
          </a:xfrm>
          <a:prstGeom prst="roundRect">
            <a:avLst>
              <a:gd name="adj" fmla="val 12308"/>
            </a:avLst>
          </a:prstGeom>
          <a:solidFill>
            <a:srgbClr val="1A3A2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37560" y="36118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</a:rPr>
              <a:t>Date : 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023360" y="36118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Juin 2025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097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Sommaire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051560"/>
            <a:ext cx="502920" cy="50292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051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5568" y="97840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Présentation du projet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15568" y="1344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Contexte, objectif, public cible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46320" y="86868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83480" y="1051560"/>
            <a:ext cx="502920" cy="50292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051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96128" y="97840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Choix de design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96128" y="1344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Palette, polices, inspirations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2084832"/>
            <a:ext cx="502920" cy="50292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201168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Architecture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15568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Arborescence &amp; captures d'écran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1901952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2084832"/>
            <a:ext cx="502920" cy="50292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96128" y="201168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Points techniques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96128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JavaScript, Bootstrap, CSS avancé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2935224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" y="3118104"/>
            <a:ext cx="502920" cy="50292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1181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15568" y="30449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GitHub &amp; Déploiement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15568" y="34107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Commits, workflow, GitHub Pages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2935224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983480" y="3118104"/>
            <a:ext cx="502920" cy="50292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83480" y="31181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96128" y="30449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Difficultés &amp; Solutions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596128" y="34107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Problèmes rencontrés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3968496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2920" y="4151376"/>
            <a:ext cx="502920" cy="50292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151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15568" y="407822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Ressources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115568" y="44439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Documentation utilisée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846320" y="3968496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983480" y="4151376"/>
            <a:ext cx="502920" cy="50292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83480" y="4151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596128" y="407822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Démo &amp; Conclusion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596128" y="44439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Live, perspectives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097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Présentation du projet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743200" cy="4069080"/>
          </a:xfrm>
          <a:prstGeom prst="roundRect">
            <a:avLst>
              <a:gd name="adj" fmla="val 2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914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🌍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11480" y="1737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6B4A"/>
                </a:solidFill>
              </a:rPr>
              <a:t>Contexte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2212848"/>
            <a:ext cx="164592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331720"/>
            <a:ext cx="24688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</a:rPr>
              <a:t>En Afrique, des milliers de développeurs, designers et créatifs peinent à trouver des missions faute de visibilité internationale. Les plateformes existantes (Upwork, Fiverr) sont peu adaptées aux réalités locales.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72968" y="822960"/>
            <a:ext cx="2743200" cy="4069080"/>
          </a:xfrm>
          <a:prstGeom prst="roundRect">
            <a:avLst>
              <a:gd name="adj" fmla="val 2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64408" y="914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🎯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264408" y="1737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6B4A"/>
                </a:solidFill>
              </a:rPr>
              <a:t>Objectif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721608" y="2212848"/>
            <a:ext cx="164592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128" y="2331720"/>
            <a:ext cx="24688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</a:rPr>
              <a:t>Créer une plateforme web multipage, en HTML/CSS/JS avec Bootstrap 5, permettant aux freelances africains de se présenter et aux clients de les trouver facilement.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25896" y="822960"/>
            <a:ext cx="2743200" cy="4069080"/>
          </a:xfrm>
          <a:prstGeom prst="roundRect">
            <a:avLst>
              <a:gd name="adj" fmla="val 2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7336" y="914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👥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117336" y="1737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6B4A"/>
                </a:solidFill>
              </a:rPr>
              <a:t>Public cible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74536" y="2212848"/>
            <a:ext cx="164592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63056" y="2331720"/>
            <a:ext cx="24688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</a:rPr>
              <a:t>Freelances africains (Dev, Design, Marketing) souhaitant décrocher des missions et clients internationaux ou locaux cherchant des talents qualifiés à tarifs compétitifs.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097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Choix de design – Palette &amp; Typographie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6B4A"/>
                </a:solidFill>
              </a:rPr>
              <a:t>Palette de couleurs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1508760" cy="1097280"/>
          </a:xfrm>
          <a:prstGeom prst="roundRect">
            <a:avLst>
              <a:gd name="adj" fmla="val 5000"/>
            </a:avLst>
          </a:prstGeom>
          <a:solidFill>
            <a:srgbClr val="198754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2344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#198754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23591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</a:rPr>
              <a:t>Vert Succès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263347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CTA &amp; boutons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048256" y="1234440"/>
            <a:ext cx="1508760" cy="1097280"/>
          </a:xfrm>
          <a:prstGeom prst="roundRect">
            <a:avLst>
              <a:gd name="adj" fmla="val 5000"/>
            </a:avLst>
          </a:prstGeom>
          <a:solidFill>
            <a:srgbClr val="0D6EFD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48256" y="12344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#0D6EFD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48256" y="23591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</a:rPr>
              <a:t>Bleu Bootstrap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48256" y="263347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Liens &amp; navs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730752" y="1234440"/>
            <a:ext cx="1508760" cy="1097280"/>
          </a:xfrm>
          <a:prstGeom prst="roundRect">
            <a:avLst>
              <a:gd name="adj" fmla="val 5000"/>
            </a:avLst>
          </a:prstGeom>
          <a:solidFill>
            <a:srgbClr val="21252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30752" y="12344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#212529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730752" y="23591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</a:rPr>
              <a:t>Noir Texte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730752" y="263347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Corps de texte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413248" y="1234440"/>
            <a:ext cx="1508760" cy="109728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13248" y="12344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#F8F9FA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13248" y="23591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</a:rPr>
              <a:t>Gris Fond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13248" y="263347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Backgrounds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095744" y="1234440"/>
            <a:ext cx="1508760" cy="1097280"/>
          </a:xfrm>
          <a:prstGeom prst="roundRect">
            <a:avLst>
              <a:gd name="adj" fmla="val 5000"/>
            </a:avLst>
          </a:prstGeom>
          <a:solidFill>
            <a:srgbClr val="FFC107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95744" y="12344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#FFC107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095744" y="23591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</a:rPr>
              <a:t>Ambre Accent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095744" y="263347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Badges &amp; alerte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971800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6B4A"/>
                </a:solidFill>
              </a:rPr>
              <a:t>Typographie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5760" y="347472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02920" y="35478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A"/>
                </a:solidFill>
              </a:rPr>
              <a:t>Inter / System UI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" y="39044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</a:rPr>
              <a:t>Police principale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" y="417880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Lisibilité maximale sur écran, parfaite pour le corps de texte et les interfaces modernes.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18688" y="347472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355848" y="35478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A"/>
                </a:solidFill>
              </a:rPr>
              <a:t>Bootstrap Icons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55848" y="39044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</a:rPr>
              <a:t>Icônes vectorielles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355848" y="417880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Cohérence visuelle avec Bootstrap 5, large bibliothèque, chargement optimisé via CDN.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71616" y="347472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208776" y="35478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A"/>
                </a:solidFill>
              </a:rPr>
              <a:t>Montserrat (headings)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08776" y="39044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</a:rPr>
              <a:t>Titres &amp; accroches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208776" y="417880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Personnalité forte et contemporaine, associée aux marques tech africaines modernes.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097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Choix de design – Inspirations &amp; Dark Mode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6B4A"/>
                </a:solidFill>
              </a:rPr>
              <a:t>Sources d'inspiration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5029200" cy="804672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99032"/>
            <a:ext cx="475488" cy="475488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99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78992" y="132588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Upwork.com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78992" y="161848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Structure des profils freelances et système de filtres par catégorie.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167128"/>
            <a:ext cx="5029200" cy="804672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" y="2331720"/>
            <a:ext cx="475488" cy="475488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225856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Fiverr.com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78992" y="255117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Cartes de services, système de badges et layout des résultats.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99816"/>
            <a:ext cx="5029200" cy="804672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264408"/>
            <a:ext cx="475488" cy="475488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264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78992" y="319125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Dribbble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78992" y="3483864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Palette de couleurs vibrantes et typographie moderne pour les sections hero.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032504"/>
            <a:ext cx="5029200" cy="804672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" y="4197096"/>
            <a:ext cx="475488" cy="475488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1970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78992" y="412394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Bootstrap Themes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78992" y="4416552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Composants réutilisables : navbar, cards, modals, formulaires.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77840" y="777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6B4A"/>
                </a:solidFill>
              </a:rPr>
              <a:t>Dark Mode – Justification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577840" y="1234440"/>
            <a:ext cx="3383280" cy="3657600"/>
          </a:xfrm>
          <a:prstGeom prst="roundRect">
            <a:avLst>
              <a:gd name="adj" fmla="val 2162"/>
            </a:avLst>
          </a:prstGeom>
          <a:solidFill>
            <a:srgbClr val="0E3D28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20840" y="1417320"/>
            <a:ext cx="1097280" cy="10972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20840" y="1417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🌙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5715000" y="2633472"/>
            <a:ext cx="31546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Toggle persisté via localStorage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Classe .dark-mode sur &lt;body&gt;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Variables CSS adaptées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Accessible sur toutes les pages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Préférence système respectée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097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Architecture – Arborescence du projet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474720" y="777240"/>
            <a:ext cx="2194560" cy="594360"/>
          </a:xfrm>
          <a:prstGeom prst="roundRect">
            <a:avLst>
              <a:gd name="adj" fmla="val 12308"/>
            </a:avLst>
          </a:prstGeom>
          <a:solidFill>
            <a:srgbClr val="1A6B4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474720" y="7772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📁 AfriTalent/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600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4A"/>
                </a:solidFill>
              </a:rPr>
              <a:t>📄 Pages HTML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029968"/>
            <a:ext cx="2560320" cy="438912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20299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📄 index.html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560320"/>
            <a:ext cx="2560320" cy="438912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56032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📄 freelances.html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090672"/>
            <a:ext cx="2560320" cy="438912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309067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📄 contact.html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621024"/>
            <a:ext cx="2560320" cy="438912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362102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📄 tarifs.html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4151376"/>
            <a:ext cx="2560320" cy="438912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" y="4151376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📄 about.html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91840" y="1600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4A"/>
                </a:solidFill>
              </a:rPr>
              <a:t>🎨 CSS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2029968"/>
            <a:ext cx="2560320" cy="438912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29000" y="20299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🎨 style.css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2560320"/>
            <a:ext cx="2560320" cy="438912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429000" y="256032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🎨 dark-mode.css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91840" y="3090672"/>
            <a:ext cx="2560320" cy="438912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29000" y="309067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🎨 animations.css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17920" y="1600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4A"/>
                </a:solidFill>
              </a:rPr>
              <a:t>⚙️ JavaScript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2029968"/>
            <a:ext cx="2560320" cy="438912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55080" y="20299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⚙️ main.js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560320"/>
            <a:ext cx="2560320" cy="438912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55080" y="256032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⚙️ scroll-animations.js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0" y="1069848"/>
            <a:ext cx="0" cy="530352"/>
          </a:xfrm>
          <a:prstGeom prst="line">
            <a:avLst/>
          </a:prstGeom>
          <a:noFill/>
          <a:ln w="19050">
            <a:solidFill>
              <a:srgbClr val="1A6B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1069848"/>
            <a:ext cx="0" cy="530352"/>
          </a:xfrm>
          <a:prstGeom prst="line">
            <a:avLst/>
          </a:prstGeom>
          <a:noFill/>
          <a:ln w="19050">
            <a:solidFill>
              <a:srgbClr val="1A6B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1069848"/>
            <a:ext cx="0" cy="530352"/>
          </a:xfrm>
          <a:prstGeom prst="line">
            <a:avLst/>
          </a:prstGeom>
          <a:noFill/>
          <a:ln w="19050">
            <a:solidFill>
              <a:srgbClr val="1A6B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45920" y="1371600"/>
            <a:ext cx="6035040" cy="0"/>
          </a:xfrm>
          <a:prstGeom prst="line">
            <a:avLst/>
          </a:prstGeom>
          <a:noFill/>
          <a:ln w="19050">
            <a:solidFill>
              <a:srgbClr val="1A6B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45920" y="1371600"/>
            <a:ext cx="0" cy="228600"/>
          </a:xfrm>
          <a:prstGeom prst="line">
            <a:avLst/>
          </a:prstGeom>
          <a:noFill/>
          <a:ln w="19050">
            <a:solidFill>
              <a:srgbClr val="1A6B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0" y="1371600"/>
            <a:ext cx="0" cy="228600"/>
          </a:xfrm>
          <a:prstGeom prst="line">
            <a:avLst/>
          </a:prstGeom>
          <a:noFill/>
          <a:ln w="19050">
            <a:solidFill>
              <a:srgbClr val="1A6B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98080" y="1371600"/>
            <a:ext cx="0" cy="228600"/>
          </a:xfrm>
          <a:prstGeom prst="line">
            <a:avLst/>
          </a:prstGeom>
          <a:noFill/>
          <a:ln w="19050">
            <a:solidFill>
              <a:srgbClr val="1A6B4A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097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Architecture – Aperçu des pages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4160520" cy="1261872"/>
          </a:xfrm>
          <a:prstGeom prst="roundRect">
            <a:avLst>
              <a:gd name="adj" fmla="val 579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051560"/>
            <a:ext cx="822960" cy="822960"/>
          </a:xfrm>
          <a:prstGeom prst="roundRect">
            <a:avLst>
              <a:gd name="adj" fmla="val 8889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051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02412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</a:rPr>
              <a:t>index.html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141732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Page d'accueil : Hero, compteurs animés, services, témoignages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822960"/>
            <a:ext cx="4160520" cy="1261872"/>
          </a:xfrm>
          <a:prstGeom prst="roundRect">
            <a:avLst>
              <a:gd name="adj" fmla="val 579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92040" y="1051560"/>
            <a:ext cx="822960" cy="822960"/>
          </a:xfrm>
          <a:prstGeom prst="roundRect">
            <a:avLst>
              <a:gd name="adj" fmla="val 8889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051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852160" y="102412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</a:rPr>
              <a:t>freelances.html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52160" y="141732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Galerie filtrable par catégorie (Design, Dev, Marketing…)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240280"/>
            <a:ext cx="4160520" cy="1261872"/>
          </a:xfrm>
          <a:prstGeom prst="roundRect">
            <a:avLst>
              <a:gd name="adj" fmla="val 579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2468880"/>
            <a:ext cx="822960" cy="822960"/>
          </a:xfrm>
          <a:prstGeom prst="roundRect">
            <a:avLst>
              <a:gd name="adj" fmla="val 8889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244144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</a:rPr>
              <a:t>contact.html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28346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Formulaire validé en JS avec feedback utilisateur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2240280"/>
            <a:ext cx="4160520" cy="1261872"/>
          </a:xfrm>
          <a:prstGeom prst="roundRect">
            <a:avLst>
              <a:gd name="adj" fmla="val 579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92040" y="2468880"/>
            <a:ext cx="822960" cy="822960"/>
          </a:xfrm>
          <a:prstGeom prst="roundRect">
            <a:avLst>
              <a:gd name="adj" fmla="val 8889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852160" y="244144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</a:rPr>
              <a:t>tarifs.html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852160" y="28346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Grille de tarification avec plans Starter, Pro, Agence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60320" y="3657600"/>
            <a:ext cx="4160520" cy="1261872"/>
          </a:xfrm>
          <a:prstGeom prst="roundRect">
            <a:avLst>
              <a:gd name="adj" fmla="val 579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697480" y="3886200"/>
            <a:ext cx="822960" cy="822960"/>
          </a:xfrm>
          <a:prstGeom prst="roundRect">
            <a:avLst>
              <a:gd name="adj" fmla="val 8889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97480" y="3886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657600" y="385876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</a:rPr>
              <a:t>about.html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657600" y="42519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Présentation équipe, mission, valeurs &amp; histoire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097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Points techniques – JavaScript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788920" cy="4160520"/>
          </a:xfrm>
          <a:prstGeom prst="roundRect">
            <a:avLst>
              <a:gd name="adj" fmla="val 2623"/>
            </a:avLst>
          </a:prstGeom>
          <a:solidFill>
            <a:srgbClr val="1E293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29768" y="877824"/>
            <a:ext cx="2578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</a:rPr>
              <a:t>Filtrage freelances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" y="1280160"/>
            <a:ext cx="2578608" cy="0"/>
          </a:xfrm>
          <a:prstGeom prst="line">
            <a:avLst/>
          </a:prstGeom>
          <a:noFill/>
          <a:ln w="12700">
            <a:solidFill>
              <a:srgbClr val="1A6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53312"/>
            <a:ext cx="2578608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document.querySelectorAll('.filter-btn')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.forEach(btn =&gt;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btn.addEventListener('click', () =&gt;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const cat = btn.dataset.categorie;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cards.forEach(c =&gt;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c.style.display =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cat==='all'||c.dataset.categorie===cat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? 'block' : 'none';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27832" y="804672"/>
            <a:ext cx="2788920" cy="4160520"/>
          </a:xfrm>
          <a:prstGeom prst="roundRect">
            <a:avLst>
              <a:gd name="adj" fmla="val 2623"/>
            </a:avLst>
          </a:prstGeom>
          <a:solidFill>
            <a:srgbClr val="1E293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37560" y="877824"/>
            <a:ext cx="2578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</a:rPr>
              <a:t>Compteurs animés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1280160"/>
            <a:ext cx="2578608" cy="0"/>
          </a:xfrm>
          <a:prstGeom prst="line">
            <a:avLst/>
          </a:prstGeom>
          <a:noFill/>
          <a:ln w="12700">
            <a:solidFill>
              <a:srgbClr val="1A6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353312"/>
            <a:ext cx="2578608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animateCounter(el, target)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start = 0;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step = () =&gt;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start += Math.ceil(target / 60);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(start &lt; target)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el.textContent = start;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requestAnimationFrame(step);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el.textContent = target;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requestAnimationFrame(step);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135624" y="804672"/>
            <a:ext cx="2788920" cy="4160520"/>
          </a:xfrm>
          <a:prstGeom prst="roundRect">
            <a:avLst>
              <a:gd name="adj" fmla="val 2623"/>
            </a:avLst>
          </a:prstGeom>
          <a:solidFill>
            <a:srgbClr val="1E293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45352" y="877824"/>
            <a:ext cx="2578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</a:rPr>
              <a:t>Dark Mode Toggle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45352" y="1280160"/>
            <a:ext cx="2578608" cy="0"/>
          </a:xfrm>
          <a:prstGeom prst="line">
            <a:avLst/>
          </a:prstGeom>
          <a:noFill/>
          <a:ln w="12700">
            <a:solidFill>
              <a:srgbClr val="1A6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45352" y="1353312"/>
            <a:ext cx="2578608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toggle = document.getElementById(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'darkModeToggle');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toggle.addEventListener('click', () =&gt;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document.body.classList.toggle('dark-mode');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localStorage.setItem('darkMode',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document.body.classList.contains(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'dark-mode'));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Restore on load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(localStorage.getItem('darkMode')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=== 'true')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document.body.classList.add('dark-mode');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097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Points techniques – Bootstrap &amp; CSS Avancé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80467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</a:rPr>
              <a:t>Bootstrap 5 – Composants utilisés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30759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4A"/>
                </a:solidFill>
              </a:rPr>
              <a:t>🗂️ Navbar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" y="164592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Responsive avec collapse mobile et scroll behavior JS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06040" y="123444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15768" y="130759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4A"/>
                </a:solidFill>
              </a:rPr>
              <a:t>🃏 Cards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15768" y="164592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Profils freelances avec hover effects et badges catégorie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242316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249631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4A"/>
                </a:solidFill>
              </a:rPr>
              <a:t>🔘 Buttons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" y="283464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Filtres dynamiques avec classe .active Bootstrap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606040" y="242316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15768" y="249631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4A"/>
                </a:solidFill>
              </a:rPr>
              <a:t>📝 Forms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15768" y="283464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Formulaire contact avec validation classes is-valid / is-invalid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361188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368503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4A"/>
                </a:solidFill>
              </a:rPr>
              <a:t>🔢 Grid System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" y="402336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Layout responsive col-12 / col-md-6 / col-lg-4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606040" y="361188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715768" y="368503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4A"/>
                </a:solidFill>
              </a:rPr>
              <a:t>🔝 Back-to-Top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715768" y="402336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Bouton flottant positionné via position-fixed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83480" y="80467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</a:rPr>
              <a:t>CSS Avancé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983480" y="1234440"/>
            <a:ext cx="3840480" cy="1783080"/>
          </a:xfrm>
          <a:prstGeom prst="roundRect">
            <a:avLst>
              <a:gd name="adj" fmla="val 4103"/>
            </a:avLst>
          </a:prstGeom>
          <a:solidFill>
            <a:srgbClr val="1E293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93208" y="1325880"/>
            <a:ext cx="3621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</a:rPr>
              <a:t>IntersectionObserver – Fade-in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93208" y="1691640"/>
            <a:ext cx="362102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observer = new IntersectionObserver(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(entries) =&gt;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entries.forEach(e =&gt;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(e.isIntersecting)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e.target.classList.add('visible');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{ threshold: 0.15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document.querySelectorAll('.fade-in')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.forEach(el =&gt; observer.observe(el));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983480" y="3172968"/>
            <a:ext cx="3840480" cy="1783080"/>
          </a:xfrm>
          <a:prstGeom prst="roundRect">
            <a:avLst>
              <a:gd name="adj" fmla="val 4103"/>
            </a:avLst>
          </a:prstGeom>
          <a:solidFill>
            <a:srgbClr val="1E293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093208" y="3264408"/>
            <a:ext cx="3621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</a:rPr>
              <a:t>Variables CSS Dark Mode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93208" y="3630168"/>
            <a:ext cx="362102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:root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--bg: #ffffff;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--text: #212529;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--card: #f8f9fa;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body.dark-mode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--bg: #121212;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--text: #e0e0e0;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--card: #1e1e1e;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097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GitHub – Workflow &amp; Historique des commits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8229600" cy="0"/>
          </a:xfrm>
          <a:prstGeom prst="line">
            <a:avLst/>
          </a:prstGeom>
          <a:noFill/>
          <a:ln w="38100">
            <a:solidFill>
              <a:srgbClr val="1A6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48840"/>
            <a:ext cx="365760" cy="365760"/>
          </a:xfrm>
          <a:prstGeom prst="ellipse">
            <a:avLst/>
          </a:prstGeom>
          <a:solidFill>
            <a:srgbClr val="1A6B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01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640080" y="1097280"/>
            <a:ext cx="0" cy="1051560"/>
          </a:xfrm>
          <a:prstGeom prst="line">
            <a:avLst/>
          </a:prstGeom>
          <a:noFill/>
          <a:ln w="12700">
            <a:solidFill>
              <a:srgbClr val="1A6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" y="8046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6B4A"/>
                </a:solidFill>
              </a:rPr>
              <a:t>Init projet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37160" y="10789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Structure de base HTML/CSS/JS, Bootstrap 5 intégré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504188" y="2148840"/>
            <a:ext cx="365760" cy="365760"/>
          </a:xfrm>
          <a:prstGeom prst="ellipse">
            <a:avLst/>
          </a:prstGeom>
          <a:solidFill>
            <a:srgbClr val="1A6B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418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02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687068" y="2514600"/>
            <a:ext cx="0" cy="1051560"/>
          </a:xfrm>
          <a:prstGeom prst="line">
            <a:avLst/>
          </a:prstGeom>
          <a:noFill/>
          <a:ln w="12700">
            <a:solidFill>
              <a:srgbClr val="1A6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4148" y="2633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6B4A"/>
                </a:solidFill>
              </a:rPr>
              <a:t>Navbar &amp; Footer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4148" y="29077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Composants Bootstrap, responsive mobile first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2551176" y="2148840"/>
            <a:ext cx="365760" cy="365760"/>
          </a:xfrm>
          <a:prstGeom prst="ellipse">
            <a:avLst/>
          </a:prstGeom>
          <a:solidFill>
            <a:srgbClr val="1A6B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51176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03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34056" y="1097280"/>
            <a:ext cx="0" cy="1051560"/>
          </a:xfrm>
          <a:prstGeom prst="line">
            <a:avLst/>
          </a:prstGeom>
          <a:noFill/>
          <a:ln w="12700">
            <a:solidFill>
              <a:srgbClr val="1A6B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31136" y="8046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6B4A"/>
                </a:solidFill>
              </a:rPr>
              <a:t>Page index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231136" y="10789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Section hero, services cards, layout grid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3598164" y="2148840"/>
            <a:ext cx="365760" cy="365760"/>
          </a:xfrm>
          <a:prstGeom prst="ellipse">
            <a:avLst/>
          </a:prstGeom>
          <a:solidFill>
            <a:srgbClr val="1A6B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98164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04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781044" y="2514600"/>
            <a:ext cx="0" cy="1051560"/>
          </a:xfrm>
          <a:prstGeom prst="line">
            <a:avLst/>
          </a:prstGeom>
          <a:noFill/>
          <a:ln w="12700">
            <a:solidFill>
              <a:srgbClr val="1A6B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78124" y="2633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6B4A"/>
                </a:solidFill>
              </a:rPr>
              <a:t>Page freelances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278124" y="29077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Profils cards avec données dynamiques JSON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4645152" y="2148840"/>
            <a:ext cx="365760" cy="365760"/>
          </a:xfrm>
          <a:prstGeom prst="ellipse">
            <a:avLst/>
          </a:prstGeom>
          <a:solidFill>
            <a:srgbClr val="1A6B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45152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05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28032" y="1097280"/>
            <a:ext cx="0" cy="1051560"/>
          </a:xfrm>
          <a:prstGeom prst="line">
            <a:avLst/>
          </a:prstGeom>
          <a:noFill/>
          <a:ln w="12700">
            <a:solidFill>
              <a:srgbClr val="1A6B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25112" y="8046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6B4A"/>
                </a:solidFill>
              </a:rPr>
              <a:t>Page contact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325112" y="10789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Formulaire HTML structuré, champs requis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5692140" y="2148840"/>
            <a:ext cx="365760" cy="36576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21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875020" y="2514600"/>
            <a:ext cx="0" cy="1051560"/>
          </a:xfrm>
          <a:prstGeom prst="line">
            <a:avLst/>
          </a:prstGeom>
          <a:noFill/>
          <a:ln w="12700">
            <a:solidFill>
              <a:srgbClr val="1A6B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72100" y="2633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6B4A"/>
                </a:solidFill>
              </a:rPr>
              <a:t>Dark Mode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5372100" y="29077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Toggle + localStorage + navbar scroll behavior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6739128" y="2148840"/>
            <a:ext cx="365760" cy="36576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3912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07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6922008" y="1097280"/>
            <a:ext cx="0" cy="1051560"/>
          </a:xfrm>
          <a:prstGeom prst="line">
            <a:avLst/>
          </a:prstGeom>
          <a:noFill/>
          <a:ln w="12700">
            <a:solidFill>
              <a:srgbClr val="1A6B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19088" y="8046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6B4A"/>
                </a:solidFill>
              </a:rPr>
              <a:t>Animations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419088" y="10789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Compteurs animés + IntersectionObserver fade-in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7786116" y="2148840"/>
            <a:ext cx="365760" cy="36576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86116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08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7968996" y="2514600"/>
            <a:ext cx="0" cy="1051560"/>
          </a:xfrm>
          <a:prstGeom prst="line">
            <a:avLst/>
          </a:prstGeom>
          <a:noFill/>
          <a:ln w="12700">
            <a:solidFill>
              <a:srgbClr val="1A6B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66076" y="2633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6B4A"/>
                </a:solidFill>
              </a:rPr>
              <a:t>Filtres &amp; Validation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466076" y="29077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Filtrage catégorie + validation formulaire JS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365760" y="3657600"/>
            <a:ext cx="365760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02920" y="37307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A"/>
                </a:solidFill>
              </a:rPr>
              <a:t>⚙️ Workflow Git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02920" y="40690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  →  </a:t>
            </a:r>
            <a:r>
              <a:rPr lang="en-US" sz="900" dirty="0">
                <a:solidFill>
                  <a:srgbClr val="1A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'feat: ...'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origin main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572000" y="3657600"/>
            <a:ext cx="4206240" cy="1280160"/>
          </a:xfrm>
          <a:prstGeom prst="roundRect">
            <a:avLst>
              <a:gd name="adj" fmla="val 5714"/>
            </a:avLst>
          </a:prstGeom>
          <a:solidFill>
            <a:srgbClr val="1A6B4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709160" y="37490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🌐 Site déployé sur GitHub Pages</a:t>
            </a:r>
            <a:endParaRPr lang="en-US" sz="1100" dirty="0"/>
          </a:p>
        </p:txBody>
      </p:sp>
      <p:sp>
        <p:nvSpPr>
          <p:cNvPr id="51" name="Text 49">
            <a:hlinkClick r:id="rId3"/>
          </p:cNvPr>
          <p:cNvSpPr/>
          <p:nvPr/>
        </p:nvSpPr>
        <p:spPr>
          <a:xfrm>
            <a:off x="4709160" y="413308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u="sng" dirty="0">
                <a:solidFill>
                  <a:srgbClr val="F5A62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https://samb444.github.io/samb-cod-AfriTalent/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709160" y="44805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7F3D0"/>
                </a:solidFill>
              </a:rPr>
              <a:t>Déploiement automatique via branche main → GitHub Pages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097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Difficultés rencontrées &amp; Solutions apportées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4114800" cy="1261872"/>
          </a:xfrm>
          <a:prstGeom prst="roundRect">
            <a:avLst>
              <a:gd name="adj" fmla="val 5797"/>
            </a:avLst>
          </a:prstGeom>
          <a:solidFill>
            <a:srgbClr val="FFF3F3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61288"/>
            <a:ext cx="438912" cy="43891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61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8686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01 – Conflits JS entre commits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1216152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Chaque commit ajoutait un nouveau fichier JS avec son propre DOMContentLoaded, causant des erreurs et des doublons de listeners.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62272" y="1344168"/>
            <a:ext cx="320040" cy="0"/>
          </a:xfrm>
          <a:prstGeom prst="line">
            <a:avLst/>
          </a:prstGeom>
          <a:noFill/>
          <a:ln w="25400">
            <a:solidFill>
              <a:srgbClr val="1A6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6B4A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800600" y="777240"/>
            <a:ext cx="4023360" cy="1261872"/>
          </a:xfrm>
          <a:prstGeom prst="roundRect">
            <a:avLst>
              <a:gd name="adj" fmla="val 5797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37760" y="1161288"/>
            <a:ext cx="438912" cy="438912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161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0" y="868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4A"/>
                </a:solidFill>
              </a:rPr>
              <a:t>Solution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0" y="1216152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Consolidation de tout le JS dans un seul fichier main.js avec un unique DOMContentLoaded. Chaque fonctionnalité dans son propre bloc conditionnel.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" y="2194560"/>
            <a:ext cx="4114800" cy="1261872"/>
          </a:xfrm>
          <a:prstGeom prst="roundRect">
            <a:avLst>
              <a:gd name="adj" fmla="val 5797"/>
            </a:avLst>
          </a:prstGeom>
          <a:solidFill>
            <a:srgbClr val="FFF3F3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578608"/>
            <a:ext cx="438912" cy="43891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5786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⚠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22860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02 – Dark Mode non persisté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2633472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Le mode sombre était réinitialisé à chaque chargement de page ou navigation entre pages.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62272" y="2761488"/>
            <a:ext cx="320040" cy="0"/>
          </a:xfrm>
          <a:prstGeom prst="line">
            <a:avLst/>
          </a:prstGeom>
          <a:noFill/>
          <a:ln w="25400">
            <a:solidFill>
              <a:srgbClr val="1A6B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6B4A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00600" y="2194560"/>
            <a:ext cx="4023360" cy="1261872"/>
          </a:xfrm>
          <a:prstGeom prst="roundRect">
            <a:avLst>
              <a:gd name="adj" fmla="val 5797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37760" y="2578608"/>
            <a:ext cx="438912" cy="438912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25786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2286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4A"/>
                </a:solidFill>
              </a:rPr>
              <a:t>Solution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2633472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Utilisation de localStorage pour sauvegarder la préférence. Vérification et application immédiate au chargement avant le rendu de la page.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0040" y="3611880"/>
            <a:ext cx="4114800" cy="1261872"/>
          </a:xfrm>
          <a:prstGeom prst="roundRect">
            <a:avLst>
              <a:gd name="adj" fmla="val 5797"/>
            </a:avLst>
          </a:prstGeom>
          <a:solidFill>
            <a:srgbClr val="FFF3F3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3995928"/>
            <a:ext cx="438912" cy="43891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995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⚠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37033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03 – Filtres qui brisaient les animations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05840" y="4050792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Après l'ajout du système de filtres, les animations fade-in ne se déclenchaient plus sur les cartes réapparues.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462272" y="4178808"/>
            <a:ext cx="320040" cy="0"/>
          </a:xfrm>
          <a:prstGeom prst="line">
            <a:avLst/>
          </a:prstGeom>
          <a:noFill/>
          <a:ln w="25400">
            <a:solidFill>
              <a:srgbClr val="1A6B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3484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6B4A"/>
                </a:solidFill>
              </a:rPr>
              <a:t>→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800600" y="3611880"/>
            <a:ext cx="4023360" cy="1261872"/>
          </a:xfrm>
          <a:prstGeom prst="roundRect">
            <a:avLst>
              <a:gd name="adj" fmla="val 5797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937760" y="3995928"/>
            <a:ext cx="438912" cy="438912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3995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0" y="3703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4A"/>
                </a:solidFill>
              </a:rPr>
              <a:t>Solution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0" y="4050792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Réinitialisation de l'IntersectionObserver après chaque filtre pour ré-observer les cartes nouvellement affichées.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097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Ressources &amp; Documentation utilisées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817924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04672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📦 Frameworks &amp; Librairies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335024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Bootstrap 5.3 – getbootstrap.com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Bootstrap Icons – icons.getbootstrap.com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jQuery 3.7 (utils minor) – jquery.com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73552" y="804672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73552" y="804672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64992" y="804672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📖 Documentation Officielle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10712" y="1335024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MDN Web Docs – developer.mozilla.org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CSS-Tricks – css-tricks.com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JavaScript.info – javascript.info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81344" y="804672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81344" y="804672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804672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🛠️ Outils de développement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18504" y="1335024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VS Code + Live Server extension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Git &amp; GitHub Desktop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Chrome DevTools (debug &amp; responsive)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2889504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889504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889504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🎨 Design &amp; Inspiration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" y="3419856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Dribbble – dribbble.com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Coolors.co – générateur de palettes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Google Fonts – fonts.google.com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73552" y="2889504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73552" y="2889504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64992" y="2889504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🚀 Déploiement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10712" y="3419856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GitHub Pages – pages.github.com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GitHub Actions (CI/CD automatique)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Lighthouse (audit performance)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81344" y="2889504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81344" y="2889504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2784" y="2889504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🎓 Apprentissage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18504" y="3419856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OpenClassrooms – formations web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freeCodeCamp – JavaScript ES6+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</a:rPr>
              <a:t>YouTube – Traversy Media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3D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Démonstration Live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822960"/>
            <a:ext cx="7863840" cy="3749040"/>
          </a:xfrm>
          <a:prstGeom prst="roundRect">
            <a:avLst>
              <a:gd name="adj" fmla="val 1951"/>
            </a:avLst>
          </a:prstGeom>
          <a:solidFill>
            <a:srgbClr val="1A2A1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822960"/>
            <a:ext cx="7863840" cy="502920"/>
          </a:xfrm>
          <a:prstGeom prst="roundRect">
            <a:avLst>
              <a:gd name="adj" fmla="val 9091"/>
            </a:avLst>
          </a:prstGeom>
          <a:solidFill>
            <a:srgbClr val="2D2D2D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987552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992" y="987552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35024" y="987552"/>
            <a:ext cx="164592" cy="16459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932688"/>
            <a:ext cx="5669280" cy="292608"/>
          </a:xfrm>
          <a:prstGeom prst="roundRect">
            <a:avLst>
              <a:gd name="adj" fmla="val 25000"/>
            </a:avLst>
          </a:prstGeom>
          <a:solidFill>
            <a:srgbClr val="3D3D3D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74520" y="932688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7F3D0"/>
                </a:solidFill>
              </a:rPr>
              <a:t>🔒 https://samb444.github.io/samb-cod-AfriTalent/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7280" y="15087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A623"/>
                </a:solidFill>
              </a:rPr>
              <a:t>AfriTalent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97280" y="23317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7F3D0"/>
                </a:solidFill>
              </a:rPr>
              <a:t>Connecter les talents africains au monde entier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194560" y="2971800"/>
            <a:ext cx="2468880" cy="502920"/>
          </a:xfrm>
          <a:prstGeom prst="roundRect">
            <a:avLst>
              <a:gd name="adj" fmla="val 9091"/>
            </a:avLst>
          </a:prstGeom>
          <a:solidFill>
            <a:srgbClr val="1A6B4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2971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Explorer les freelances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0" y="2971800"/>
            <a:ext cx="2468880" cy="502920"/>
          </a:xfrm>
          <a:prstGeom prst="roundRect">
            <a:avLst>
              <a:gd name="adj" fmla="val 9091"/>
            </a:avLst>
          </a:prstGeom>
          <a:solidFill>
            <a:srgbClr val="000000"/>
          </a:solidFill>
          <a:ln w="254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971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</a:rPr>
              <a:t>Devenir freelance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5A623"/>
                </a:solidFill>
              </a:rPr>
              <a:t>→ Ouvrir le navigateur et naviguer sur le site en direct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097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Conclusion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6B4A"/>
                </a:solidFill>
              </a:rPr>
              <a:t>Bilan du projet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4251960" cy="621792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234440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12344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5 pages HTML complètes et responsives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234440"/>
            <a:ext cx="4251960" cy="621792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1234440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94960" y="12344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Dark mode persistant via localStorage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984248"/>
            <a:ext cx="4251960" cy="621792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1984248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198424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Animations JS : compteurs + fade-in scroll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00600" y="1984248"/>
            <a:ext cx="4251960" cy="621792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92040" y="1984248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94960" y="198424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Filtrage dynamique par catégorie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734056"/>
            <a:ext cx="4251960" cy="621792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" y="2734056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2734056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Validation formulaire contact côté client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2734056"/>
            <a:ext cx="4251960" cy="621792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92040" y="2734056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94960" y="2734056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9 commits structurés + déploiement GitHub Pages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4787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</a:rPr>
              <a:t>Compétences développées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395020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95020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HTML5 Sémantique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828800" y="395020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28800" y="395020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CSS3 &amp; Variables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91840" y="395020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395020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JS Vanilla ES6+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54880" y="395020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95020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Bootstrap 5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217920" y="395020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395020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Git &amp; GitHub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680960" y="395020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395020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Responsive Design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3D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Perspectives d'amélioration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2788920" cy="3840480"/>
          </a:xfrm>
          <a:prstGeom prst="roundRect">
            <a:avLst>
              <a:gd name="adj" fmla="val 2623"/>
            </a:avLst>
          </a:prstGeom>
          <a:solidFill>
            <a:srgbClr val="1A2A1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04672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0467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3D28"/>
                </a:solidFill>
              </a:rPr>
              <a:t>Court terme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2423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80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Backend Node.js / Express</a:t>
            </a:r>
            <a:endParaRPr lang="en-US" sz="1100" dirty="0"/>
          </a:p>
          <a:p>
            <a:pPr marL="342900" indent="-342900">
              <a:lnSpc>
                <a:spcPct val="180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Base de données MongoDB</a:t>
            </a:r>
            <a:endParaRPr lang="en-US" sz="1100" dirty="0"/>
          </a:p>
          <a:p>
            <a:pPr marL="342900" indent="-342900">
              <a:lnSpc>
                <a:spcPct val="180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Authentification JWT</a:t>
            </a:r>
            <a:endParaRPr lang="en-US" sz="1100" dirty="0"/>
          </a:p>
          <a:p>
            <a:pPr marL="342900" indent="-342900">
              <a:lnSpc>
                <a:spcPct val="180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Profils freelances dynamiques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73552" y="804672"/>
            <a:ext cx="2788920" cy="3840480"/>
          </a:xfrm>
          <a:prstGeom prst="roundRect">
            <a:avLst>
              <a:gd name="adj" fmla="val 2623"/>
            </a:avLst>
          </a:prstGeom>
          <a:solidFill>
            <a:srgbClr val="1A2A1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73552" y="804672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73552" y="80467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3D28"/>
                </a:solidFill>
              </a:rPr>
              <a:t>Moyen terme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56432" y="1444752"/>
            <a:ext cx="2423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80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Système de messagerie temps réel</a:t>
            </a:r>
            <a:endParaRPr lang="en-US" sz="1100" dirty="0"/>
          </a:p>
          <a:p>
            <a:pPr marL="342900" indent="-342900">
              <a:lnSpc>
                <a:spcPct val="180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Paiements en ligne (Stripe / Wave)</a:t>
            </a:r>
            <a:endParaRPr lang="en-US" sz="1100" dirty="0"/>
          </a:p>
          <a:p>
            <a:pPr marL="342900" indent="-342900">
              <a:lnSpc>
                <a:spcPct val="180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Application mobile React Native</a:t>
            </a:r>
            <a:endParaRPr lang="en-US" sz="1100" dirty="0"/>
          </a:p>
          <a:p>
            <a:pPr marL="342900" indent="-342900">
              <a:lnSpc>
                <a:spcPct val="180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Dashboard freelance &amp; client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804672"/>
            <a:ext cx="2788920" cy="3840480"/>
          </a:xfrm>
          <a:prstGeom prst="roundRect">
            <a:avLst>
              <a:gd name="adj" fmla="val 2623"/>
            </a:avLst>
          </a:prstGeom>
          <a:solidFill>
            <a:srgbClr val="1A2A1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81344" y="804672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81344" y="80467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3D28"/>
                </a:solidFill>
              </a:rPr>
              <a:t>Long terme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64224" y="1444752"/>
            <a:ext cx="2423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80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IA de matching compétences</a:t>
            </a:r>
            <a:endParaRPr lang="en-US" sz="1100" dirty="0"/>
          </a:p>
          <a:p>
            <a:pPr marL="342900" indent="-342900">
              <a:lnSpc>
                <a:spcPct val="180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Vérification identité KYC</a:t>
            </a:r>
            <a:endParaRPr lang="en-US" sz="1100" dirty="0"/>
          </a:p>
          <a:p>
            <a:pPr marL="342900" indent="-342900">
              <a:lnSpc>
                <a:spcPct val="180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Système de notation avancé</a:t>
            </a:r>
            <a:endParaRPr lang="en-US" sz="1100" dirty="0"/>
          </a:p>
          <a:p>
            <a:pPr marL="342900" indent="-342900">
              <a:lnSpc>
                <a:spcPct val="180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Expansion multi-pays Afrique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663440"/>
            <a:ext cx="8229600" cy="384048"/>
          </a:xfrm>
          <a:prstGeom prst="roundRect">
            <a:avLst>
              <a:gd name="adj" fmla="val 19048"/>
            </a:avLst>
          </a:prstGeom>
          <a:solidFill>
            <a:srgbClr val="0E3D28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8640" y="466344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5A623"/>
                </a:solidFill>
              </a:rPr>
              <a:t>« AfriTalent : connecter les talents africains au monde, une mission, une vision. »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eelOff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1671</Words>
  <Application>Microsoft Office PowerPoint</Application>
  <PresentationFormat>Affichage à l'écran (16:9)</PresentationFormat>
  <Paragraphs>348</Paragraphs>
  <Slides>15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8" baseType="lpstr">
      <vt:lpstr>Arial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AfriTalent – Présentation Projet</dc:title>
  <dc:subject>PptxGenJS Presentation</dc:subject>
  <dc:creator>Codé</dc:creator>
  <cp:lastModifiedBy>Code Samb</cp:lastModifiedBy>
  <cp:revision>3</cp:revision>
  <dcterms:created xsi:type="dcterms:W3CDTF">2026-06-17T10:30:58Z</dcterms:created>
  <dcterms:modified xsi:type="dcterms:W3CDTF">2026-06-17T11:03:00Z</dcterms:modified>
</cp:coreProperties>
</file>